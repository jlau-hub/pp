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a:t>
            </a:r>
            <a:r>
              <a:rPr lang="en-US" sz="1800" b="0" u="none" strike="noStrike">
                <a:solidFill>
                  <a:schemeClr val="dk1"/>
                </a:solidFill>
                <a:effectLst/>
                <a:uFillTx/>
                <a:latin typeface="Calibri"/>
              </a:rPr>
              <a:t>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C44D26B-D441-4E53-9215-591656B8034F}"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sldImg"/>
          </p:nvPr>
        </p:nvSpPr>
        <p:spPr>
          <a:xfrm>
            <a:off x="685800" y="1143000"/>
            <a:ext cx="5484960" cy="3084840"/>
          </a:xfrm>
          <a:prstGeom prst="rect">
            <a:avLst/>
          </a:prstGeom>
          <a:ln w="0">
            <a:noFill/>
          </a:ln>
        </p:spPr>
      </p:sp>
      <p:sp>
        <p:nvSpPr>
          <p:cNvPr id="5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Good day, Tutor. Today I am presenting 'P Explorer', a responsive, multi-page frontend web application showcasing UNESCO World Heritage sites. Over the next 10 minutes, we will walk through the core technical components, layout strategies, DOM event handling, and file structure implemented in this student project based directly on the project's codebase.</a:t>
            </a:r>
            <a:endParaRPr lang="en-US" sz="2000" b="0" u="none" strike="noStrike">
              <a:solidFill>
                <a:srgbClr val="000000"/>
              </a:solidFill>
              <a:effectLst/>
              <a:uFillTx/>
              <a:latin typeface="Arial"/>
            </a:endParaRPr>
          </a:p>
        </p:txBody>
      </p:sp>
      <p:sp>
        <p:nvSpPr>
          <p:cNvPr id="52" name="PlaceHolder 3"/>
          <p:cNvSpPr>
            <a:spLocks noGrp="1"/>
          </p:cNvSpPr>
          <p:nvPr>
            <p:ph type="sldNum" idx="4"/>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DEC3BA9-A4D1-4BCE-923E-22EEB593173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sldImg"/>
          </p:nvPr>
        </p:nvSpPr>
        <p:spPr>
          <a:xfrm>
            <a:off x="685800" y="1143000"/>
            <a:ext cx="5484960" cy="3084840"/>
          </a:xfrm>
          <a:prstGeom prst="rect">
            <a:avLst/>
          </a:prstGeom>
          <a:ln w="0">
            <a:noFill/>
          </a:ln>
        </p:spPr>
      </p:sp>
      <p:sp>
        <p:nvSpPr>
          <p:cNvPr id="5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primary goal of P Explorer is to present detailed </a:t>
            </a:r>
            <a:r>
              <a:rPr lang="en-US" sz="2000" b="0" u="none" strike="noStrike">
                <a:solidFill>
                  <a:srgbClr val="000000"/>
                </a:solidFill>
                <a:effectLst/>
                <a:uFillTx/>
                <a:latin typeface="Arial"/>
              </a:rPr>
              <a:t>historical and geographical data for four premier heritage </a:t>
            </a:r>
            <a:r>
              <a:rPr lang="en-US" sz="2000" b="0" u="none" strike="noStrike">
                <a:solidFill>
                  <a:srgbClr val="000000"/>
                </a:solidFill>
                <a:effectLst/>
                <a:uFillTx/>
                <a:latin typeface="Arial"/>
              </a:rPr>
              <a:t>sites: Petra, Palenque, Pamukkale, and Palmanova. </a:t>
            </a:r>
            <a:r>
              <a:rPr lang="en-US" sz="2000" b="0" u="none" strike="noStrike">
                <a:solidFill>
                  <a:srgbClr val="000000"/>
                </a:solidFill>
                <a:effectLst/>
                <a:uFillTx/>
                <a:latin typeface="Arial"/>
              </a:rPr>
              <a:t>Rather than relying on heavy frontend frameworks like </a:t>
            </a:r>
            <a:r>
              <a:rPr lang="en-US" sz="2000" b="0" u="none" strike="noStrike">
                <a:solidFill>
                  <a:srgbClr val="000000"/>
                </a:solidFill>
                <a:effectLst/>
                <a:uFillTx/>
                <a:latin typeface="Arial"/>
              </a:rPr>
              <a:t>React or Vue, the project focuses on mastering core Web </a:t>
            </a:r>
            <a:r>
              <a:rPr lang="en-US" sz="2000" b="0" u="none" strike="noStrike">
                <a:solidFill>
                  <a:srgbClr val="000000"/>
                </a:solidFill>
                <a:effectLst/>
                <a:uFillTx/>
                <a:latin typeface="Arial"/>
              </a:rPr>
              <a:t>Frontend fundamentals: semantically sound HTML5 </a:t>
            </a:r>
            <a:r>
              <a:rPr lang="en-US" sz="2000" b="0" u="none" strike="noStrike">
                <a:solidFill>
                  <a:srgbClr val="000000"/>
                </a:solidFill>
                <a:effectLst/>
                <a:uFillTx/>
                <a:latin typeface="Arial"/>
              </a:rPr>
              <a:t>markup, responsive CSS layout primitives, and purposeful </a:t>
            </a:r>
            <a:r>
              <a:rPr lang="en-US" sz="2000" b="0" u="none" strike="noStrike">
                <a:solidFill>
                  <a:srgbClr val="000000"/>
                </a:solidFill>
                <a:effectLst/>
                <a:uFillTx/>
                <a:latin typeface="Arial"/>
              </a:rPr>
              <a:t>vanilla JavaScript.</a:t>
            </a:r>
            <a:endParaRPr lang="en-US" sz="2000" b="0" u="none" strike="noStrike">
              <a:solidFill>
                <a:srgbClr val="000000"/>
              </a:solidFill>
              <a:effectLst/>
              <a:uFillTx/>
              <a:latin typeface="Arial"/>
            </a:endParaRPr>
          </a:p>
        </p:txBody>
      </p:sp>
      <p:sp>
        <p:nvSpPr>
          <p:cNvPr id="55" name="PlaceHolder 3"/>
          <p:cNvSpPr>
            <a:spLocks noGrp="1"/>
          </p:cNvSpPr>
          <p:nvPr>
            <p:ph type="sldNum" idx="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1057131-40D6-4AD0-9E32-A175508C5B0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sldImg"/>
          </p:nvPr>
        </p:nvSpPr>
        <p:spPr>
          <a:xfrm>
            <a:off x="685800" y="1143000"/>
            <a:ext cx="5484960" cy="3084840"/>
          </a:xfrm>
          <a:prstGeom prst="rect">
            <a:avLst/>
          </a:prstGeom>
          <a:ln w="0">
            <a:noFill/>
          </a:ln>
        </p:spPr>
      </p:sp>
      <p:sp>
        <p:nvSpPr>
          <p:cNvPr id="5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Examining the project directory reveals a clean, modular file structure. Content pages for each heritage site follow a standardized template containing embedded content. Global visual branding is maintained through 'style.css', while dynamic header injection and DOM interaction are encapsulated in 'app.js'.</a:t>
            </a:r>
            <a:endParaRPr lang="en-US" sz="2000" b="0" u="none" strike="noStrike">
              <a:solidFill>
                <a:srgbClr val="000000"/>
              </a:solidFill>
              <a:effectLst/>
              <a:uFillTx/>
              <a:latin typeface="Arial"/>
            </a:endParaRPr>
          </a:p>
        </p:txBody>
      </p:sp>
      <p:sp>
        <p:nvSpPr>
          <p:cNvPr id="58" name="PlaceHolder 3"/>
          <p:cNvSpPr>
            <a:spLocks noGrp="1"/>
          </p:cNvSpPr>
          <p:nvPr>
            <p:ph type="sldNum" idx="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4A65DF0-7820-4A1B-8245-4CE334477EE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sldImg"/>
          </p:nvPr>
        </p:nvSpPr>
        <p:spPr>
          <a:xfrm>
            <a:off x="685800" y="1143000"/>
            <a:ext cx="5484960" cy="3084840"/>
          </a:xfrm>
          <a:prstGeom prst="rect">
            <a:avLst/>
          </a:prstGeom>
          <a:ln w="0">
            <a:noFill/>
          </a:ln>
        </p:spPr>
      </p:sp>
      <p:sp>
        <p:nvSpPr>
          <p:cNvPr id="6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key strength of the codebase is its adherence to modern </a:t>
            </a:r>
            <a:r>
              <a:rPr lang="en-US" sz="2000" b="0" u="none" strike="noStrike">
                <a:solidFill>
                  <a:srgbClr val="000000"/>
                </a:solidFill>
                <a:effectLst/>
                <a:uFillTx/>
                <a:latin typeface="Arial"/>
              </a:rPr>
              <a:t>HTML5 semantic tags. The document structure is </a:t>
            </a:r>
            <a:r>
              <a:rPr lang="en-US" sz="2000" b="0" u="none" strike="noStrike">
                <a:solidFill>
                  <a:srgbClr val="000000"/>
                </a:solidFill>
                <a:effectLst/>
                <a:uFillTx/>
                <a:latin typeface="Arial"/>
              </a:rPr>
              <a:t>organized with logical landmarks like header, main, </a:t>
            </a:r>
            <a:r>
              <a:rPr lang="en-US" sz="2000" b="0" u="none" strike="noStrike">
                <a:solidFill>
                  <a:srgbClr val="000000"/>
                </a:solidFill>
                <a:effectLst/>
                <a:uFillTx/>
                <a:latin typeface="Arial"/>
              </a:rPr>
              <a:t>section, aside, and footer, aiding both SEO and document </a:t>
            </a:r>
            <a:r>
              <a:rPr lang="en-US" sz="2000" b="0" u="none" strike="noStrike">
                <a:solidFill>
                  <a:srgbClr val="000000"/>
                </a:solidFill>
                <a:effectLst/>
                <a:uFillTx/>
                <a:latin typeface="Arial"/>
              </a:rPr>
              <a:t>navigation. Content elements incorporate descriptive alt </a:t>
            </a:r>
            <a:r>
              <a:rPr lang="en-US" sz="2000" b="0" u="none" strike="noStrike">
                <a:solidFill>
                  <a:srgbClr val="000000"/>
                </a:solidFill>
                <a:effectLst/>
                <a:uFillTx/>
                <a:latin typeface="Arial"/>
              </a:rPr>
              <a:t>text and clean structural headings across all detail pages.</a:t>
            </a:r>
            <a:endParaRPr lang="en-US" sz="2000" b="0" u="none" strike="noStrike">
              <a:solidFill>
                <a:srgbClr val="000000"/>
              </a:solidFill>
              <a:effectLst/>
              <a:uFillTx/>
              <a:latin typeface="Arial"/>
            </a:endParaRPr>
          </a:p>
        </p:txBody>
      </p:sp>
      <p:sp>
        <p:nvSpPr>
          <p:cNvPr id="61" name="PlaceHolder 3"/>
          <p:cNvSpPr>
            <a:spLocks noGrp="1"/>
          </p:cNvSpPr>
          <p:nvPr>
            <p:ph type="sldNum" idx="7"/>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6545965-DF27-4111-82A8-2333C8723A1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sldImg"/>
          </p:nvPr>
        </p:nvSpPr>
        <p:spPr>
          <a:xfrm>
            <a:off x="685800" y="1143000"/>
            <a:ext cx="5484960" cy="3084840"/>
          </a:xfrm>
          <a:prstGeom prst="rect">
            <a:avLst/>
          </a:prstGeom>
          <a:ln w="0">
            <a:noFill/>
          </a:ln>
        </p:spPr>
      </p:sp>
      <p:sp>
        <p:nvSpPr>
          <p:cNvPr id="6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Looking at the CSS implementation, the project utilizes </a:t>
            </a:r>
            <a:r>
              <a:rPr lang="en-US" sz="2000" b="0" u="none" strike="noStrike">
                <a:solidFill>
                  <a:srgbClr val="000000"/>
                </a:solidFill>
                <a:effectLst/>
                <a:uFillTx/>
                <a:latin typeface="Arial"/>
              </a:rPr>
              <a:t>native CSS Custom Properties in style.css for consistent </a:t>
            </a:r>
            <a:r>
              <a:rPr lang="en-US" sz="2000" b="0" u="none" strike="noStrike">
                <a:solidFill>
                  <a:srgbClr val="000000"/>
                </a:solidFill>
                <a:effectLst/>
                <a:uFillTx/>
                <a:latin typeface="Arial"/>
              </a:rPr>
              <a:t>branding, such as primary navy (#1c4470) and dark </a:t>
            </a:r>
            <a:r>
              <a:rPr lang="en-US" sz="2000" b="0" u="none" strike="noStrike">
                <a:solidFill>
                  <a:srgbClr val="000000"/>
                </a:solidFill>
                <a:effectLst/>
                <a:uFillTx/>
                <a:latin typeface="Arial"/>
              </a:rPr>
              <a:t>header tokens (#0d233a). Layouts rely on Flexbox </a:t>
            </a:r>
            <a:r>
              <a:rPr lang="en-US" sz="2000" b="0" u="none" strike="noStrike">
                <a:solidFill>
                  <a:srgbClr val="000000"/>
                </a:solidFill>
                <a:effectLst/>
                <a:uFillTx/>
                <a:latin typeface="Arial"/>
              </a:rPr>
              <a:t>primitives like .detail-layout-container and .highlight-card-</a:t>
            </a:r>
            <a:r>
              <a:rPr lang="en-US" sz="2000" b="0" u="none" strike="noStrike">
                <a:solidFill>
                  <a:srgbClr val="000000"/>
                </a:solidFill>
                <a:effectLst/>
                <a:uFillTx/>
                <a:latin typeface="Arial"/>
              </a:rPr>
              <a:t>wrapper to build modular multi-column arrangements.</a:t>
            </a:r>
            <a:endParaRPr lang="en-US" sz="2000" b="0" u="none" strike="noStrike">
              <a:solidFill>
                <a:srgbClr val="000000"/>
              </a:solidFill>
              <a:effectLst/>
              <a:uFillTx/>
              <a:latin typeface="Arial"/>
            </a:endParaRPr>
          </a:p>
        </p:txBody>
      </p:sp>
      <p:sp>
        <p:nvSpPr>
          <p:cNvPr id="64" name="PlaceHolder 3"/>
          <p:cNvSpPr>
            <a:spLocks noGrp="1"/>
          </p:cNvSpPr>
          <p:nvPr>
            <p:ph type="sldNum" idx="8"/>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487FDFA-5369-40D0-A4D7-C25BEC583D8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sldImg"/>
          </p:nvPr>
        </p:nvSpPr>
        <p:spPr>
          <a:xfrm>
            <a:off x="685800" y="1143000"/>
            <a:ext cx="5484960" cy="3084840"/>
          </a:xfrm>
          <a:prstGeom prst="rect">
            <a:avLst/>
          </a:prstGeom>
          <a:ln w="0">
            <a:noFill/>
          </a:ln>
        </p:spPr>
      </p:sp>
      <p:sp>
        <p:nvSpPr>
          <p:cNvPr id="6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In 'app.js', the script handles mobile navigation with lightweight vanilla JavaScript. By wrapping execution inside a 'DOMContentLoaded' listener, DOM elements are safely selected after parsing. Toggling .menu-expanded seamlessly updates the mobile viewport layout through CSS class inheritance.</a:t>
            </a:r>
            <a:endParaRPr lang="en-US" sz="2000" b="0" u="none" strike="noStrike">
              <a:solidFill>
                <a:srgbClr val="000000"/>
              </a:solidFill>
              <a:effectLst/>
              <a:uFillTx/>
              <a:latin typeface="Arial"/>
            </a:endParaRPr>
          </a:p>
        </p:txBody>
      </p:sp>
      <p:sp>
        <p:nvSpPr>
          <p:cNvPr id="67" name="PlaceHolder 3"/>
          <p:cNvSpPr>
            <a:spLocks noGrp="1"/>
          </p:cNvSpPr>
          <p:nvPr>
            <p:ph type="sldNum" idx="9"/>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17DFCC1-4868-431B-9F9F-F580D7CFFAB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ldImg"/>
          </p:nvPr>
        </p:nvSpPr>
        <p:spPr>
          <a:xfrm>
            <a:off x="685800" y="1143000"/>
            <a:ext cx="5484960" cy="3084840"/>
          </a:xfrm>
          <a:prstGeom prst="rect">
            <a:avLst/>
          </a:prstGeom>
          <a:ln w="0">
            <a:noFill/>
          </a:ln>
        </p:spPr>
      </p:sp>
      <p:sp>
        <p:nvSpPr>
          <p:cNvPr id="6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current architecture prioritizes reliable, zero-dependency static HTML deployment for the site pages, paired with client-side header generation via JavaScript. This provides high reliability and immediate rendering while keeping a structured layout pattern that can easily adapt to external data sources.</a:t>
            </a:r>
            <a:endParaRPr lang="en-US" sz="2000" b="0" u="none" strike="noStrike">
              <a:solidFill>
                <a:srgbClr val="000000"/>
              </a:solidFill>
              <a:effectLst/>
              <a:uFillTx/>
              <a:latin typeface="Arial"/>
            </a:endParaRPr>
          </a:p>
        </p:txBody>
      </p:sp>
      <p:sp>
        <p:nvSpPr>
          <p:cNvPr id="70" name="PlaceHolder 3"/>
          <p:cNvSpPr>
            <a:spLocks noGrp="1"/>
          </p:cNvSpPr>
          <p:nvPr>
            <p:ph type="sldNum" idx="10"/>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3672B5C-51BB-45FB-B22F-B9DCB535C08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sldImg"/>
          </p:nvPr>
        </p:nvSpPr>
        <p:spPr>
          <a:xfrm>
            <a:off x="685800" y="1143000"/>
            <a:ext cx="5484960" cy="3084840"/>
          </a:xfrm>
          <a:prstGeom prst="rect">
            <a:avLst/>
          </a:prstGeom>
          <a:ln w="0">
            <a:noFill/>
          </a:ln>
        </p:spPr>
      </p:sp>
      <p:sp>
        <p:nvSpPr>
          <p:cNvPr id="7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From a user experience standpoint, the page design strikes a balance between rich imagery and readable text. Detail pages like 'palenque.html' and 'palmanova.html' feature a two-column desktop grid where the main section delivers narrative historical content while a fixed-style sidebar presents essential quick facts at a glance.</a:t>
            </a:r>
            <a:endParaRPr lang="en-US" sz="2000" b="0" u="none" strike="noStrike">
              <a:solidFill>
                <a:srgbClr val="000000"/>
              </a:solidFill>
              <a:effectLst/>
              <a:uFillTx/>
              <a:latin typeface="Arial"/>
            </a:endParaRPr>
          </a:p>
        </p:txBody>
      </p:sp>
      <p:sp>
        <p:nvSpPr>
          <p:cNvPr id="73" name="PlaceHolder 3"/>
          <p:cNvSpPr>
            <a:spLocks noGrp="1"/>
          </p:cNvSpPr>
          <p:nvPr>
            <p:ph type="sldNum" idx="1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DA26740-F3ED-4AD1-932E-537114977A6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sldImg"/>
          </p:nvPr>
        </p:nvSpPr>
        <p:spPr>
          <a:xfrm>
            <a:off x="685800" y="1143000"/>
            <a:ext cx="5484960" cy="3084840"/>
          </a:xfrm>
          <a:prstGeom prst="rect">
            <a:avLst/>
          </a:prstGeom>
          <a:ln w="0">
            <a:noFill/>
          </a:ln>
        </p:spPr>
      </p:sp>
      <p:sp>
        <p:nvSpPr>
          <p:cNvPr id="7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Evaluating the codebase demonstrates solid mastery of core web standards and responsive layout design. Moving forward, the site architecture can be enhanced by introducing a local data.json repository and client-side fetch() rendering to transform P Explorer into a fully dynamic application.</a:t>
            </a:r>
            <a:endParaRPr lang="en-US" sz="2000" b="0" u="none" strike="noStrike">
              <a:solidFill>
                <a:srgbClr val="000000"/>
              </a:solidFill>
              <a:effectLst/>
              <a:uFillTx/>
              <a:latin typeface="Arial"/>
            </a:endParaRPr>
          </a:p>
        </p:txBody>
      </p:sp>
      <p:sp>
        <p:nvSpPr>
          <p:cNvPr id="76" name="PlaceHolder 3"/>
          <p:cNvSpPr>
            <a:spLocks noGrp="1"/>
          </p:cNvSpPr>
          <p:nvPr>
            <p:ph type="sldNum" idx="12"/>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87AC03A-5330-40B4-BE80-C2273252083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sldImg"/>
          </p:nvPr>
        </p:nvSpPr>
        <p:spPr>
          <a:xfrm>
            <a:off x="685800" y="1143000"/>
            <a:ext cx="5484960" cy="3084840"/>
          </a:xfrm>
          <a:prstGeom prst="rect">
            <a:avLst/>
          </a:prstGeom>
          <a:ln w="0">
            <a:noFill/>
          </a:ln>
        </p:spPr>
      </p:sp>
      <p:sp>
        <p:nvSpPr>
          <p:cNvPr id="7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In conclusion, the P Explorer project highlights how pure vanilla web frontend technologies can produce clean and responsive web applications without unnecessary framework overhead. Thank you for your time and guidance throughout this course. I am now open to any questions or technical feedback on the codebase!</a:t>
            </a:r>
            <a:endParaRPr lang="en-US" sz="2000" b="0" u="none" strike="noStrike">
              <a:solidFill>
                <a:srgbClr val="000000"/>
              </a:solidFill>
              <a:effectLst/>
              <a:uFillTx/>
              <a:latin typeface="Arial"/>
            </a:endParaRPr>
          </a:p>
        </p:txBody>
      </p:sp>
      <p:sp>
        <p:nvSpPr>
          <p:cNvPr id="79" name="PlaceHolder 3"/>
          <p:cNvSpPr>
            <a:spLocks noGrp="1"/>
          </p:cNvSpPr>
          <p:nvPr>
            <p:ph type="sldNum" idx="13"/>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FCEA73C-C8EA-4E90-9A76-572B64EF9D0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10" name="Text 0"/>
          <p:cNvSpPr/>
          <p:nvPr/>
        </p:nvSpPr>
        <p:spPr>
          <a:xfrm>
            <a:off x="731520" y="137160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1300" b="1" u="none" strike="noStrike">
                <a:solidFill>
                  <a:srgbClr val="38BDF8"/>
                </a:solidFill>
                <a:effectLst/>
                <a:uFillTx/>
                <a:latin typeface="Calibri"/>
              </a:rPr>
              <a:t>FRONTEND WEB DEVELOPMENT PROJECT PRESENTATION</a:t>
            </a:r>
            <a:endParaRPr lang="en-US" sz="1300" b="0" u="none" strike="noStrike">
              <a:solidFill>
                <a:srgbClr val="FFFFFF"/>
              </a:solidFill>
              <a:effectLst/>
              <a:uFillTx/>
              <a:latin typeface="Arial"/>
            </a:endParaRPr>
          </a:p>
        </p:txBody>
      </p:sp>
      <p:sp>
        <p:nvSpPr>
          <p:cNvPr id="11" name="Text 1"/>
          <p:cNvSpPr/>
          <p:nvPr/>
        </p:nvSpPr>
        <p:spPr>
          <a:xfrm>
            <a:off x="731520" y="201168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3200" b="1" u="none" strike="noStrike">
                <a:solidFill>
                  <a:srgbClr val="FFFFFF"/>
                </a:solidFill>
                <a:effectLst/>
                <a:uFillTx/>
                <a:latin typeface="Calibri"/>
              </a:rPr>
              <a:t>P Explorer: UNESCO Heritage Site Showcase</a:t>
            </a:r>
            <a:endParaRPr lang="en-US" sz="3200" b="0" u="none" strike="noStrike">
              <a:solidFill>
                <a:srgbClr val="FFFFFF"/>
              </a:solidFill>
              <a:effectLst/>
              <a:uFillTx/>
              <a:latin typeface="Arial"/>
            </a:endParaRPr>
          </a:p>
        </p:txBody>
      </p:sp>
      <p:sp>
        <p:nvSpPr>
          <p:cNvPr id="12" name="Text 2"/>
          <p:cNvSpPr/>
          <p:nvPr/>
        </p:nvSpPr>
        <p:spPr>
          <a:xfrm>
            <a:off x="731520" y="320040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1600" b="0" u="none" strike="noStrike">
                <a:solidFill>
                  <a:srgbClr val="94A3B8"/>
                </a:solidFill>
                <a:effectLst/>
                <a:uFillTx/>
                <a:latin typeface="Calibri"/>
              </a:rPr>
              <a:t>A technical deep dive into client-side architecture, semantic HTML5, CSS design tokens, and lightweight JavaScript interaction.</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Text 0"/>
          <p:cNvSpPr/>
          <p:nvPr/>
        </p:nvSpPr>
        <p:spPr>
          <a:xfrm>
            <a:off x="731520" y="54864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1100" b="1" u="none" strike="noStrike">
                <a:solidFill>
                  <a:srgbClr val="2563EB"/>
                </a:solidFill>
                <a:effectLst/>
                <a:uFillTx/>
                <a:latin typeface="Calibri"/>
              </a:rPr>
              <a:t>PROJECT SCOPE &amp; CORE PURPOSE</a:t>
            </a:r>
            <a:endParaRPr lang="en-US" sz="1100" b="0" u="none" strike="noStrike">
              <a:solidFill>
                <a:srgbClr val="000000"/>
              </a:solidFill>
              <a:effectLst/>
              <a:uFillTx/>
              <a:latin typeface="Arial"/>
            </a:endParaRPr>
          </a:p>
        </p:txBody>
      </p:sp>
      <p:sp>
        <p:nvSpPr>
          <p:cNvPr id="14" name="Text 1"/>
          <p:cNvSpPr/>
          <p:nvPr/>
        </p:nvSpPr>
        <p:spPr>
          <a:xfrm>
            <a:off x="731520" y="91440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2400" b="1" u="none" strike="noStrike">
                <a:solidFill>
                  <a:srgbClr val="0F172A"/>
                </a:solidFill>
                <a:effectLst/>
                <a:uFillTx/>
                <a:latin typeface="Calibri"/>
              </a:rPr>
              <a:t>Project Overview</a:t>
            </a:r>
            <a:endParaRPr lang="en-US" sz="2400" b="0" u="none" strike="noStrike">
              <a:solidFill>
                <a:srgbClr val="000000"/>
              </a:solidFill>
              <a:effectLst/>
              <a:uFillTx/>
              <a:latin typeface="Arial"/>
            </a:endParaRPr>
          </a:p>
        </p:txBody>
      </p:sp>
      <p:sp>
        <p:nvSpPr>
          <p:cNvPr id="15" name="Text 2"/>
          <p:cNvSpPr/>
          <p:nvPr/>
        </p:nvSpPr>
        <p:spPr>
          <a:xfrm>
            <a:off x="731520" y="2011680"/>
            <a:ext cx="2467440" cy="274176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475569"/>
                </a:solidFill>
                <a:effectLst/>
                <a:uFillTx/>
                <a:latin typeface="Calibri"/>
              </a:rPr>
              <a:t>Content Objective</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475569"/>
                </a:solidFill>
                <a:effectLst/>
                <a:uFillTx/>
                <a:latin typeface="Calibri"/>
              </a:rPr>
              <a:t>Interactive exploration platform showcasing four UNESCO heritage landmarks: Petra, Palenque, Pamukkale, and Palmanova.</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475569"/>
                </a:solidFill>
                <a:effectLst/>
                <a:uFillTx/>
                <a:latin typeface="Calibri"/>
              </a:rPr>
              <a:t>Educational &amp; Tourism exploration</a:t>
            </a:r>
            <a:endParaRPr lang="en-US" sz="1400" b="0" u="none" strike="noStrike">
              <a:solidFill>
                <a:srgbClr val="000000"/>
              </a:solidFill>
              <a:effectLst/>
              <a:uFillTx/>
              <a:latin typeface="Arial"/>
            </a:endParaRPr>
          </a:p>
        </p:txBody>
      </p:sp>
      <p:sp>
        <p:nvSpPr>
          <p:cNvPr id="16" name="Text 3"/>
          <p:cNvSpPr/>
          <p:nvPr/>
        </p:nvSpPr>
        <p:spPr>
          <a:xfrm>
            <a:off x="3474720" y="2011680"/>
            <a:ext cx="2467440" cy="274176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475569"/>
                </a:solidFill>
                <a:effectLst/>
                <a:uFillTx/>
                <a:latin typeface="Calibri"/>
              </a:rPr>
              <a:t>Pure Stack Architecture</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475569"/>
                </a:solidFill>
                <a:effectLst/>
                <a:uFillTx/>
                <a:latin typeface="Calibri"/>
              </a:rPr>
              <a:t>Zero-framework, vanilla web stack emphasizing fundamental native browser standards and lightweight execution.</a:t>
            </a:r>
            <a:endParaRPr lang="en-US" sz="1400" b="0" u="none" strike="noStrike">
              <a:solidFill>
                <a:srgbClr val="000000"/>
              </a:solidFill>
              <a:effectLst/>
              <a:uFillTx/>
              <a:latin typeface="Arial"/>
            </a:endParaRPr>
          </a:p>
        </p:txBody>
      </p:sp>
      <p:sp>
        <p:nvSpPr>
          <p:cNvPr id="17" name="Text 4"/>
          <p:cNvSpPr/>
          <p:nvPr/>
        </p:nvSpPr>
        <p:spPr>
          <a:xfrm>
            <a:off x="6217920" y="2011680"/>
            <a:ext cx="2467440" cy="274176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475569"/>
                </a:solidFill>
                <a:effectLst/>
                <a:uFillTx/>
                <a:latin typeface="Calibri"/>
              </a:rPr>
              <a:t>Modern Standards</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475569"/>
                </a:solidFill>
                <a:effectLst/>
                <a:uFillTx/>
                <a:latin typeface="Calibri"/>
              </a:rPr>
              <a:t>Mobile-responsive layouts, flexible CSS variables and structured semantic HTML.</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Text 6"/>
          <p:cNvSpPr/>
          <p:nvPr/>
        </p:nvSpPr>
        <p:spPr>
          <a:xfrm>
            <a:off x="731520" y="54864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1100" b="1" u="none" strike="noStrike">
                <a:solidFill>
                  <a:srgbClr val="2563EB"/>
                </a:solidFill>
                <a:effectLst/>
                <a:uFillTx/>
                <a:latin typeface="Calibri"/>
              </a:rPr>
              <a:t>FILE STRUCTURE</a:t>
            </a:r>
            <a:endParaRPr lang="en-US" sz="1100" b="0" u="none" strike="noStrike">
              <a:solidFill>
                <a:srgbClr val="000000"/>
              </a:solidFill>
              <a:effectLst/>
              <a:uFillTx/>
              <a:latin typeface="Arial"/>
            </a:endParaRPr>
          </a:p>
        </p:txBody>
      </p:sp>
      <p:sp>
        <p:nvSpPr>
          <p:cNvPr id="19" name="Text 10"/>
          <p:cNvSpPr/>
          <p:nvPr/>
        </p:nvSpPr>
        <p:spPr>
          <a:xfrm>
            <a:off x="731520" y="91440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2400" b="1" u="none" strike="noStrike">
                <a:solidFill>
                  <a:srgbClr val="0F172A"/>
                </a:solidFill>
                <a:effectLst/>
                <a:uFillTx/>
                <a:latin typeface="Calibri"/>
              </a:rPr>
              <a:t>File Architecture &amp; Organization</a:t>
            </a:r>
            <a:endParaRPr lang="en-US" sz="2400" b="0" u="none" strike="noStrike">
              <a:solidFill>
                <a:srgbClr val="000000"/>
              </a:solidFill>
              <a:effectLst/>
              <a:uFillTx/>
              <a:latin typeface="Arial"/>
            </a:endParaRPr>
          </a:p>
        </p:txBody>
      </p:sp>
      <p:sp>
        <p:nvSpPr>
          <p:cNvPr id="20" name="Text 11"/>
          <p:cNvSpPr/>
          <p:nvPr/>
        </p:nvSpPr>
        <p:spPr>
          <a:xfrm>
            <a:off x="731520" y="2225160"/>
            <a:ext cx="41133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1400" b="0" u="none" strike="noStrike">
                <a:solidFill>
                  <a:srgbClr val="334155"/>
                </a:solidFill>
                <a:effectLst/>
                <a:uFillTx/>
                <a:latin typeface="Calibri"/>
              </a:rPr>
              <a:t>Markup Layer: Modular HTML pages (index.html, petra.html, palenque.html, etc.)</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34155"/>
                </a:solidFill>
                <a:effectLst/>
                <a:uFillTx/>
                <a:latin typeface="Calibri"/>
              </a:rPr>
              <a:t>Style Layer: Centralized stylesheet (style.css) with unified color tokens</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34155"/>
                </a:solidFill>
                <a:effectLst/>
                <a:uFillTx/>
                <a:latin typeface="Calibri"/>
              </a:rPr>
              <a:t>Script Layer: Dynamic navigation &amp; header, footer injection script (app.js)</a:t>
            </a:r>
            <a:endParaRPr lang="en-US" sz="1400" b="0" u="none" strike="noStrike">
              <a:solidFill>
                <a:srgbClr val="000000"/>
              </a:solidFill>
              <a:effectLst/>
              <a:uFillTx/>
              <a:latin typeface="Arial"/>
            </a:endParaRPr>
          </a:p>
        </p:txBody>
      </p:sp>
      <p:sp>
        <p:nvSpPr>
          <p:cNvPr id="21" name="Text 12"/>
          <p:cNvSpPr/>
          <p:nvPr/>
        </p:nvSpPr>
        <p:spPr>
          <a:xfrm>
            <a:off x="5120640" y="1828800"/>
            <a:ext cx="3473280" cy="3473280"/>
          </a:xfrm>
          <a:prstGeom prst="rect">
            <a:avLst/>
          </a:prstGeom>
          <a:solidFill>
            <a:srgbClr val="0D1117"/>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38BDF8"/>
                </a:solidFill>
                <a:effectLst/>
                <a:uFillTx/>
                <a:latin typeface="Courier New"/>
                <a:ea typeface="Courier New"/>
              </a:rPr>
              <a:t>📁 PP/</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38BDF8"/>
                </a:solidFill>
                <a:effectLst/>
                <a:uFillTx/>
                <a:latin typeface="Courier New"/>
                <a:ea typeface="Courier New"/>
              </a:rPr>
              <a:t>├── 📄 index.html</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38BDF8"/>
                </a:solidFill>
                <a:effectLst/>
                <a:uFillTx/>
                <a:latin typeface="Courier New"/>
                <a:ea typeface="Courier New"/>
              </a:rPr>
              <a:t>├── 📄 petra.html</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38BDF8"/>
                </a:solidFill>
                <a:effectLst/>
                <a:uFillTx/>
                <a:latin typeface="Courier New"/>
                <a:ea typeface="Courier New"/>
              </a:rPr>
              <a:t>├── 📄 palenque.html</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38BDF8"/>
                </a:solidFill>
                <a:effectLst/>
                <a:uFillTx/>
                <a:latin typeface="Courier New"/>
                <a:ea typeface="Courier New"/>
              </a:rPr>
              <a:t>├── 📄 pamukkale.html</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38BDF8"/>
                </a:solidFill>
                <a:effectLst/>
                <a:uFillTx/>
                <a:latin typeface="Courier New"/>
                <a:ea typeface="Courier New"/>
              </a:rPr>
              <a:t>├── 📄 palmanova.html</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38BDF8"/>
                </a:solidFill>
                <a:effectLst/>
                <a:uFillTx/>
                <a:latin typeface="Courier New"/>
                <a:ea typeface="Courier New"/>
              </a:rPr>
              <a:t>├── 🎨 style.css</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38BDF8"/>
                </a:solidFill>
                <a:effectLst/>
                <a:uFillTx/>
                <a:latin typeface="Courier New"/>
                <a:ea typeface="Courier New"/>
              </a:rPr>
              <a:t>└── ⚡ app.js</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Text 0"/>
          <p:cNvSpPr/>
          <p:nvPr/>
        </p:nvSpPr>
        <p:spPr>
          <a:xfrm>
            <a:off x="731520" y="54864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1100" b="1" u="none" strike="noStrike">
                <a:solidFill>
                  <a:srgbClr val="2563EB"/>
                </a:solidFill>
                <a:effectLst/>
                <a:uFillTx/>
                <a:latin typeface="Calibri"/>
              </a:rPr>
              <a:t>HTML5 STANDARDS</a:t>
            </a:r>
            <a:endParaRPr lang="en-US" sz="1100" b="0" u="none" strike="noStrike">
              <a:solidFill>
                <a:srgbClr val="000000"/>
              </a:solidFill>
              <a:effectLst/>
              <a:uFillTx/>
              <a:latin typeface="Arial"/>
            </a:endParaRPr>
          </a:p>
        </p:txBody>
      </p:sp>
      <p:sp>
        <p:nvSpPr>
          <p:cNvPr id="23" name="Text 1"/>
          <p:cNvSpPr/>
          <p:nvPr/>
        </p:nvSpPr>
        <p:spPr>
          <a:xfrm>
            <a:off x="731520" y="91440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2400" b="1" u="none" strike="noStrike">
                <a:solidFill>
                  <a:srgbClr val="0F172A"/>
                </a:solidFill>
                <a:effectLst/>
                <a:uFillTx/>
                <a:latin typeface="Calibri"/>
              </a:rPr>
              <a:t>Semantic Architecture</a:t>
            </a:r>
            <a:endParaRPr lang="en-US" sz="2400" b="0" u="none" strike="noStrike">
              <a:solidFill>
                <a:srgbClr val="000000"/>
              </a:solidFill>
              <a:effectLst/>
              <a:uFillTx/>
              <a:latin typeface="Arial"/>
            </a:endParaRPr>
          </a:p>
        </p:txBody>
      </p:sp>
      <p:sp>
        <p:nvSpPr>
          <p:cNvPr id="24" name="Text 2"/>
          <p:cNvSpPr/>
          <p:nvPr/>
        </p:nvSpPr>
        <p:spPr>
          <a:xfrm>
            <a:off x="731520" y="1828800"/>
            <a:ext cx="3839040" cy="347328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334155"/>
                </a:solidFill>
                <a:effectLst/>
                <a:uFillTx/>
                <a:latin typeface="Calibri"/>
              </a:rPr>
              <a:t>Semantic</a:t>
            </a:r>
            <a:endParaRPr lang="en-US" sz="1300" b="0" u="none" strike="noStrike">
              <a:solidFill>
                <a:srgbClr val="000000"/>
              </a:solidFill>
              <a:effectLst/>
              <a:uFillTx/>
              <a:latin typeface="Arial"/>
            </a:endParaRPr>
          </a:p>
          <a:p>
            <a:pPr defTabSz="914400">
              <a:lnSpc>
                <a:spcPct val="100000"/>
              </a:lnSpc>
              <a:tabLst>
                <a:tab pos="0" algn="l"/>
              </a:tabLst>
            </a:pP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&lt;header&gt; / &lt;nav&gt;: Dynamic navigation header</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&lt;main&gt;: Primary page content container</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&lt;section&gt;: hero, gallery on index page</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&lt;section&gt;: banner, detail-content, history-section, wonders-list, travel-list</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&lt;article&gt;: for site-cards on index page</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&lt;aside&gt;: Sidebar for quick facts</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&lt;footer&gt;: Persistent</a:t>
            </a:r>
            <a:endParaRPr lang="en-US" sz="1300" b="0" u="none" strike="noStrike">
              <a:solidFill>
                <a:srgbClr val="000000"/>
              </a:solidFill>
              <a:effectLst/>
              <a:uFillTx/>
              <a:latin typeface="Arial"/>
            </a:endParaRPr>
          </a:p>
        </p:txBody>
      </p:sp>
      <p:sp>
        <p:nvSpPr>
          <p:cNvPr id="25" name="Text 3"/>
          <p:cNvSpPr/>
          <p:nvPr/>
        </p:nvSpPr>
        <p:spPr>
          <a:xfrm>
            <a:off x="4846320" y="1828800"/>
            <a:ext cx="3839040" cy="347328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334155"/>
                </a:solidFill>
                <a:effectLst/>
                <a:uFillTx/>
                <a:latin typeface="Calibri"/>
              </a:rPr>
              <a:t>Markup Standards</a:t>
            </a:r>
            <a:endParaRPr lang="en-US" sz="1300" b="0" u="none" strike="noStrike">
              <a:solidFill>
                <a:srgbClr val="000000"/>
              </a:solidFill>
              <a:effectLst/>
              <a:uFillTx/>
              <a:latin typeface="Arial"/>
            </a:endParaRPr>
          </a:p>
          <a:p>
            <a:pPr defTabSz="914400">
              <a:lnSpc>
                <a:spcPct val="100000"/>
              </a:lnSpc>
              <a:tabLst>
                <a:tab pos="0" algn="l"/>
              </a:tabLst>
            </a:pP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Content hierarchy using structured headings</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Descriptive image alt attributes across media items</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Safe external links utilizing target="_blank"</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Text 0"/>
          <p:cNvSpPr/>
          <p:nvPr/>
        </p:nvSpPr>
        <p:spPr>
          <a:xfrm>
            <a:off x="731520" y="54864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1100" b="1" u="none" strike="noStrike">
                <a:solidFill>
                  <a:srgbClr val="2563EB"/>
                </a:solidFill>
                <a:effectLst/>
                <a:uFillTx/>
                <a:latin typeface="Calibri"/>
              </a:rPr>
              <a:t>Layout</a:t>
            </a:r>
            <a:endParaRPr lang="en-US" sz="1100" b="0" u="none" strike="noStrike">
              <a:solidFill>
                <a:srgbClr val="000000"/>
              </a:solidFill>
              <a:effectLst/>
              <a:uFillTx/>
              <a:latin typeface="Arial"/>
            </a:endParaRPr>
          </a:p>
        </p:txBody>
      </p:sp>
      <p:sp>
        <p:nvSpPr>
          <p:cNvPr id="27" name="Text 1"/>
          <p:cNvSpPr/>
          <p:nvPr/>
        </p:nvSpPr>
        <p:spPr>
          <a:xfrm>
            <a:off x="731520" y="91440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2400" b="1" u="none" strike="noStrike">
                <a:solidFill>
                  <a:srgbClr val="0F172A"/>
                </a:solidFill>
                <a:effectLst/>
                <a:uFillTx/>
                <a:latin typeface="Calibri"/>
              </a:rPr>
              <a:t>Design</a:t>
            </a:r>
            <a:endParaRPr lang="en-US" sz="2400" b="0" u="none" strike="noStrike">
              <a:solidFill>
                <a:srgbClr val="000000"/>
              </a:solidFill>
              <a:effectLst/>
              <a:uFillTx/>
              <a:latin typeface="Arial"/>
            </a:endParaRPr>
          </a:p>
        </p:txBody>
      </p:sp>
      <p:sp>
        <p:nvSpPr>
          <p:cNvPr id="28" name="Text 3"/>
          <p:cNvSpPr/>
          <p:nvPr/>
        </p:nvSpPr>
        <p:spPr>
          <a:xfrm>
            <a:off x="4847760" y="1327320"/>
            <a:ext cx="3839040" cy="347328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334155"/>
                </a:solidFill>
                <a:effectLst/>
                <a:uFillTx/>
                <a:latin typeface="Calibri"/>
              </a:rPr>
              <a:t>Responsive Flexboxes</a:t>
            </a:r>
            <a:endParaRPr lang="en-US" sz="14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400" b="0" u="none" strike="noStrike">
                <a:solidFill>
                  <a:srgbClr val="334155"/>
                </a:solidFill>
                <a:effectLst/>
                <a:uFillTx/>
                <a:latin typeface="Calibri"/>
              </a:rPr>
              <a:t>Flexbox: .header-navigation (Logo,Nav Links/Hamburger)  , .nav-links-wrapper (list on right </a:t>
            </a:r>
            <a:r>
              <a:rPr lang="en-US" sz="1400" b="0" u="none" strike="noStrike">
                <a:solidFill>
                  <a:srgbClr val="334155"/>
                </a:solidFill>
                <a:effectLst/>
                <a:uFillTx/>
                <a:latin typeface="Calibri"/>
              </a:rPr>
              <a:t>side, not full width), .nav-links-list (show site links)</a:t>
            </a: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34155"/>
                </a:solidFill>
                <a:effectLst/>
                <a:uFillTx/>
                <a:latin typeface="Calibri"/>
              </a:rPr>
              <a:t>Index page only:</a:t>
            </a:r>
            <a:endParaRPr lang="en-US" sz="14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400" b="0" u="none" strike="noStrike">
                <a:solidFill>
                  <a:srgbClr val="334155"/>
                </a:solidFill>
                <a:effectLst/>
                <a:uFillTx/>
                <a:latin typeface="Calibri"/>
              </a:rPr>
              <a:t>.site-card-item (image above text) , .site-card-details (title summary, button)</a:t>
            </a:r>
            <a:endParaRPr lang="en-US" sz="14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400" b="0" u="none" strike="noStrike">
                <a:solidFill>
                  <a:srgbClr val="334155"/>
                </a:solidFill>
                <a:effectLst/>
                <a:uFillTx/>
                <a:latin typeface="Calibri"/>
              </a:rPr>
              <a:t>Site pages: </a:t>
            </a:r>
            <a:endParaRPr lang="en-US" sz="14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400" b="0" u="none" strike="noStrike">
                <a:solidFill>
                  <a:srgbClr val="334155"/>
                </a:solidFill>
                <a:effectLst/>
                <a:uFillTx/>
                <a:latin typeface="Calibri"/>
              </a:rPr>
              <a:t>.page-banner-section (hero image), .detail-main-content (left headings, paragraphs, </a:t>
            </a:r>
            <a:r>
              <a:rPr lang="en-US" sz="1400" b="0" u="none" strike="noStrike">
                <a:solidFill>
                  <a:srgbClr val="334155"/>
                </a:solidFill>
                <a:effectLst/>
                <a:uFillTx/>
                <a:latin typeface="Calibri"/>
              </a:rPr>
              <a:t>images, and highlights), .sidebar-field (right quick facts), .travel-list (bottom travel info)</a:t>
            </a:r>
            <a:endParaRPr lang="en-US" sz="1400" b="0" u="none" strike="noStrike">
              <a:solidFill>
                <a:srgbClr val="000000"/>
              </a:solidFill>
              <a:effectLst/>
              <a:uFillTx/>
              <a:latin typeface="Arial"/>
            </a:endParaRPr>
          </a:p>
          <a:p>
            <a:pPr defTabSz="914400">
              <a:lnSpc>
                <a:spcPct val="100000"/>
              </a:lnSpc>
              <a:tabLst>
                <a:tab pos="0" algn="l"/>
              </a:tabLst>
            </a:pPr>
            <a:endParaRPr lang="en-US" sz="1800" b="0" u="none" strike="noStrike">
              <a:solidFill>
                <a:srgbClr val="000000"/>
              </a:solidFill>
              <a:effectLst/>
              <a:uFillTx/>
              <a:latin typeface="Arial"/>
            </a:endParaRPr>
          </a:p>
        </p:txBody>
      </p:sp>
      <p:sp>
        <p:nvSpPr>
          <p:cNvPr id="29" name="Text 5"/>
          <p:cNvSpPr/>
          <p:nvPr/>
        </p:nvSpPr>
        <p:spPr>
          <a:xfrm>
            <a:off x="636120" y="1995840"/>
            <a:ext cx="3839040" cy="313020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334155"/>
                </a:solidFill>
                <a:effectLst/>
                <a:uFillTx/>
                <a:latin typeface="Calibri"/>
              </a:rPr>
              <a:t>Responsive Grid Layouts</a:t>
            </a: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34155"/>
                </a:solidFill>
                <a:effectLst/>
                <a:uFillTx/>
                <a:latin typeface="Calibri"/>
              </a:rPr>
              <a:t>main content grid.</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34155"/>
                </a:solidFill>
                <a:effectLst/>
                <a:uFillTx/>
                <a:latin typeface="Calibri"/>
              </a:rPr>
              <a:t>Index page only:</a:t>
            </a:r>
            <a:endParaRPr lang="en-US" sz="14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400" b="0" u="none" strike="noStrike">
                <a:solidFill>
                  <a:srgbClr val="334155"/>
                </a:solidFill>
                <a:effectLst/>
                <a:uFillTx/>
                <a:latin typeface="Calibri"/>
              </a:rPr>
              <a:t>.featured-sites-grid (layout site cards for mobile (4 in 1 column), tablet (2 by 2) and desktop ( 3 columns)</a:t>
            </a:r>
            <a:endParaRPr lang="en-US" sz="14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400" b="0" u="none" strike="noStrike">
                <a:solidFill>
                  <a:srgbClr val="334155"/>
                </a:solidFill>
                <a:effectLst/>
                <a:uFillTx/>
                <a:latin typeface="Calibri"/>
              </a:rPr>
              <a:t>Site pages: </a:t>
            </a:r>
            <a:endParaRPr lang="en-US" sz="14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400" b="0" u="none" strike="noStrike">
                <a:solidFill>
                  <a:srgbClr val="334155"/>
                </a:solidFill>
                <a:effectLst/>
                <a:uFillTx/>
                <a:latin typeface="Calibri"/>
              </a:rPr>
              <a:t>.highlight-card-wrapper (layout cards side by side on larger screen, stack vertically on smaller screen) </a:t>
            </a:r>
            <a:endParaRPr lang="en-US" sz="14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400" b="0" u="none" strike="noStrike">
                <a:solidFill>
                  <a:srgbClr val="334155"/>
                </a:solidFill>
                <a:effectLst/>
                <a:uFillTx/>
                <a:latin typeface="Calibri"/>
              </a:rPr>
              <a:t>.detail-layout-container (mobile: 1 column throughout, desktop: main 2/3 aside quick facts 1/3 </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Courier New"/>
            </a:endParaRPr>
          </a:p>
          <a:p>
            <a:pPr defTabSz="914400">
              <a:lnSpc>
                <a:spcPct val="100000"/>
              </a:lnSpc>
              <a:tabLst>
                <a:tab pos="0" algn="l"/>
              </a:tabLst>
            </a:pPr>
            <a:endParaRPr lang="en-US" sz="1400" b="0" u="none" strike="noStrike">
              <a:solidFill>
                <a:srgbClr val="000000"/>
              </a:solidFill>
              <a:effectLst/>
              <a:uFillTx/>
              <a:latin typeface="Courier New"/>
            </a:endParaRPr>
          </a:p>
          <a:p>
            <a:pPr defTabSz="914400">
              <a:lnSpc>
                <a:spcPct val="100000"/>
              </a:lnSpc>
              <a:spcBef>
                <a:spcPts val="1191"/>
              </a:spcBef>
              <a:spcAft>
                <a:spcPts val="992"/>
              </a:spcAft>
              <a:tabLst>
                <a:tab pos="0" algn="l"/>
              </a:tabLst>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Text 0"/>
          <p:cNvSpPr/>
          <p:nvPr/>
        </p:nvSpPr>
        <p:spPr>
          <a:xfrm>
            <a:off x="731520" y="54864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1100" b="1" u="none" strike="noStrike">
                <a:solidFill>
                  <a:srgbClr val="2563EB"/>
                </a:solidFill>
                <a:effectLst/>
                <a:uFillTx/>
                <a:latin typeface="Calibri"/>
              </a:rPr>
              <a:t>CLIENT-SIDE LOGIC</a:t>
            </a:r>
            <a:endParaRPr lang="en-US" sz="1100" b="0" u="none" strike="noStrike">
              <a:solidFill>
                <a:srgbClr val="000000"/>
              </a:solidFill>
              <a:effectLst/>
              <a:uFillTx/>
              <a:latin typeface="Arial"/>
            </a:endParaRPr>
          </a:p>
        </p:txBody>
      </p:sp>
      <p:sp>
        <p:nvSpPr>
          <p:cNvPr id="31" name="Text 1"/>
          <p:cNvSpPr/>
          <p:nvPr/>
        </p:nvSpPr>
        <p:spPr>
          <a:xfrm>
            <a:off x="731520" y="91440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2400" b="1" u="none" strike="noStrike">
                <a:solidFill>
                  <a:srgbClr val="0F172A"/>
                </a:solidFill>
                <a:effectLst/>
                <a:uFillTx/>
                <a:latin typeface="Calibri"/>
              </a:rPr>
              <a:t>DOM Manipulation &amp; Event Listener Logic</a:t>
            </a:r>
            <a:endParaRPr lang="en-US" sz="2400" b="0" u="none" strike="noStrike">
              <a:solidFill>
                <a:srgbClr val="000000"/>
              </a:solidFill>
              <a:effectLst/>
              <a:uFillTx/>
              <a:latin typeface="Arial"/>
            </a:endParaRPr>
          </a:p>
        </p:txBody>
      </p:sp>
      <p:sp>
        <p:nvSpPr>
          <p:cNvPr id="32" name="Text 3"/>
          <p:cNvSpPr/>
          <p:nvPr/>
        </p:nvSpPr>
        <p:spPr>
          <a:xfrm>
            <a:off x="5394960" y="1828800"/>
            <a:ext cx="3290400" cy="347328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334155"/>
                </a:solidFill>
                <a:effectLst/>
                <a:uFillTx/>
                <a:latin typeface="Calibri"/>
              </a:rPr>
              <a:t>Safe DOM Execution</a:t>
            </a: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34155"/>
                </a:solidFill>
                <a:effectLst/>
                <a:uFillTx/>
                <a:latin typeface="Calibri"/>
              </a:rPr>
              <a:t>Listens for DOMContentLoaded to ensure elements exist before binding listeners.</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34155"/>
                </a:solidFill>
                <a:effectLst/>
                <a:uFillTx/>
                <a:latin typeface="Calibri"/>
              </a:rPr>
              <a:t>Class-Based State Toggle</a:t>
            </a: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34155"/>
                </a:solidFill>
                <a:effectLst/>
                <a:uFillTx/>
                <a:latin typeface="Calibri"/>
              </a:rPr>
              <a:t>Toggles .menu-expanded for smooth responsive drawer navigation via CSS.</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Arial"/>
            </a:endParaRPr>
          </a:p>
        </p:txBody>
      </p:sp>
      <p:sp>
        <p:nvSpPr>
          <p:cNvPr id="33" name="Text 7"/>
          <p:cNvSpPr/>
          <p:nvPr/>
        </p:nvSpPr>
        <p:spPr>
          <a:xfrm>
            <a:off x="1053000" y="1828800"/>
            <a:ext cx="3290400" cy="347328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334155"/>
                </a:solidFill>
                <a:effectLst/>
                <a:uFillTx/>
                <a:latin typeface="Calibri"/>
              </a:rPr>
              <a:t>Inject HTML via Javascript for header and footer</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Text 0"/>
          <p:cNvSpPr/>
          <p:nvPr/>
        </p:nvSpPr>
        <p:spPr>
          <a:xfrm>
            <a:off x="731520" y="54864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35" name="Text 1"/>
          <p:cNvSpPr/>
          <p:nvPr/>
        </p:nvSpPr>
        <p:spPr>
          <a:xfrm>
            <a:off x="731520" y="91440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2400" b="1" u="none" strike="noStrike">
                <a:solidFill>
                  <a:srgbClr val="0F172A"/>
                </a:solidFill>
                <a:effectLst/>
                <a:uFillTx/>
                <a:latin typeface="Calibri"/>
              </a:rPr>
              <a:t>Static Pages and Dynamic Header</a:t>
            </a:r>
            <a:endParaRPr lang="en-US" sz="2400" b="0" u="none" strike="noStrike">
              <a:solidFill>
                <a:srgbClr val="000000"/>
              </a:solidFill>
              <a:effectLst/>
              <a:uFillTx/>
              <a:latin typeface="Arial"/>
            </a:endParaRPr>
          </a:p>
        </p:txBody>
      </p:sp>
      <p:sp>
        <p:nvSpPr>
          <p:cNvPr id="36" name="Text 2"/>
          <p:cNvSpPr/>
          <p:nvPr/>
        </p:nvSpPr>
        <p:spPr>
          <a:xfrm>
            <a:off x="731520" y="2011680"/>
            <a:ext cx="1827360" cy="274176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475569"/>
                </a:solidFill>
                <a:effectLst/>
                <a:uFillTx/>
                <a:latin typeface="Calibri"/>
              </a:rPr>
              <a:t>Static HTML Pages</a:t>
            </a:r>
            <a:endParaRPr lang="en-US" sz="1300" b="0" u="none" strike="noStrike">
              <a:solidFill>
                <a:srgbClr val="000000"/>
              </a:solidFill>
              <a:effectLst/>
              <a:uFillTx/>
              <a:latin typeface="Arial"/>
            </a:endParaRPr>
          </a:p>
          <a:p>
            <a:pPr defTabSz="914400">
              <a:lnSpc>
                <a:spcPct val="100000"/>
              </a:lnSpc>
              <a:tabLst>
                <a:tab pos="0" algn="l"/>
              </a:tabLst>
            </a:pP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475569"/>
                </a:solidFill>
                <a:effectLst/>
                <a:uFillTx/>
                <a:latin typeface="Calibri"/>
              </a:rPr>
              <a:t>Direct embedded content inside structured HTML files for quick text loading.</a:t>
            </a:r>
            <a:endParaRPr lang="en-US" sz="1300" b="0" u="none" strike="noStrike">
              <a:solidFill>
                <a:srgbClr val="000000"/>
              </a:solidFill>
              <a:effectLst/>
              <a:uFillTx/>
              <a:latin typeface="Arial"/>
            </a:endParaRPr>
          </a:p>
        </p:txBody>
      </p:sp>
      <p:sp>
        <p:nvSpPr>
          <p:cNvPr id="37" name="Text 3"/>
          <p:cNvSpPr/>
          <p:nvPr/>
        </p:nvSpPr>
        <p:spPr>
          <a:xfrm>
            <a:off x="2743200" y="2011680"/>
            <a:ext cx="1827360" cy="274176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475569"/>
                </a:solidFill>
                <a:effectLst/>
                <a:uFillTx/>
                <a:latin typeface="Calibri"/>
              </a:rPr>
              <a:t>Dynamic Header</a:t>
            </a:r>
            <a:endParaRPr lang="en-US" sz="1300" b="0" u="none" strike="noStrike">
              <a:solidFill>
                <a:srgbClr val="000000"/>
              </a:solidFill>
              <a:effectLst/>
              <a:uFillTx/>
              <a:latin typeface="Arial"/>
            </a:endParaRPr>
          </a:p>
          <a:p>
            <a:pPr defTabSz="914400">
              <a:lnSpc>
                <a:spcPct val="100000"/>
              </a:lnSpc>
              <a:tabLst>
                <a:tab pos="0" algn="l"/>
              </a:tabLst>
            </a:pP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475569"/>
                </a:solidFill>
                <a:effectLst/>
                <a:uFillTx/>
                <a:latin typeface="Calibri"/>
              </a:rPr>
              <a:t>Navigation elements rendered dynamically via app.js DOM injection.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Text 0"/>
          <p:cNvSpPr/>
          <p:nvPr/>
        </p:nvSpPr>
        <p:spPr>
          <a:xfrm>
            <a:off x="731520" y="54864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1100" b="1" u="none" strike="noStrike">
                <a:solidFill>
                  <a:srgbClr val="2563EB"/>
                </a:solidFill>
                <a:effectLst/>
                <a:uFillTx/>
                <a:latin typeface="Calibri"/>
              </a:rPr>
              <a:t>USER EXPERIENCE</a:t>
            </a:r>
            <a:endParaRPr lang="en-US" sz="1100" b="0" u="none" strike="noStrike">
              <a:solidFill>
                <a:srgbClr val="000000"/>
              </a:solidFill>
              <a:effectLst/>
              <a:uFillTx/>
              <a:latin typeface="Arial"/>
            </a:endParaRPr>
          </a:p>
        </p:txBody>
      </p:sp>
      <p:sp>
        <p:nvSpPr>
          <p:cNvPr id="39" name="Text 1"/>
          <p:cNvSpPr/>
          <p:nvPr/>
        </p:nvSpPr>
        <p:spPr>
          <a:xfrm>
            <a:off x="731520" y="91440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2400" b="1" u="none" strike="noStrike">
                <a:solidFill>
                  <a:srgbClr val="0F172A"/>
                </a:solidFill>
                <a:effectLst/>
                <a:uFillTx/>
                <a:latin typeface="Calibri"/>
              </a:rPr>
              <a:t>Responsive UI Layouts &amp; </a:t>
            </a:r>
            <a:r>
              <a:rPr lang="en-US" sz="2400" b="1" u="none" strike="noStrike">
                <a:solidFill>
                  <a:srgbClr val="0F172A"/>
                </a:solidFill>
                <a:effectLst/>
                <a:uFillTx/>
                <a:latin typeface="Calibri"/>
              </a:rPr>
              <a:t>Content Display</a:t>
            </a:r>
            <a:endParaRPr lang="en-US" sz="2400" b="0" u="none" strike="noStrike">
              <a:solidFill>
                <a:srgbClr val="000000"/>
              </a:solidFill>
              <a:effectLst/>
              <a:uFillTx/>
              <a:latin typeface="Arial"/>
            </a:endParaRPr>
          </a:p>
        </p:txBody>
      </p:sp>
      <p:sp>
        <p:nvSpPr>
          <p:cNvPr id="40" name="Text 2"/>
          <p:cNvSpPr/>
          <p:nvPr/>
        </p:nvSpPr>
        <p:spPr>
          <a:xfrm>
            <a:off x="731520" y="1828800"/>
            <a:ext cx="4113360" cy="347328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334155"/>
                </a:solidFill>
                <a:effectLst/>
                <a:uFillTx/>
                <a:latin typeface="Calibri"/>
              </a:rPr>
              <a:t>Detail Content Area</a:t>
            </a: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34155"/>
                </a:solidFill>
                <a:effectLst/>
                <a:uFillTx/>
                <a:latin typeface="Calibri"/>
              </a:rPr>
              <a:t>Presents in-depth historical background alongside embedded media links and interactive back buttons.</a:t>
            </a:r>
            <a:endParaRPr lang="en-US" sz="1400" b="0" u="none" strike="noStrike">
              <a:solidFill>
                <a:srgbClr val="000000"/>
              </a:solidFill>
              <a:effectLst/>
              <a:uFillTx/>
              <a:latin typeface="Arial"/>
            </a:endParaRPr>
          </a:p>
          <a:p>
            <a:pPr defTabSz="914400">
              <a:lnSpc>
                <a:spcPct val="100000"/>
              </a:lnSpc>
              <a:tabLst>
                <a:tab pos="0" algn="l"/>
              </a:tabLst>
            </a:pP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34155"/>
                </a:solidFill>
                <a:effectLst/>
                <a:uFillTx/>
                <a:latin typeface="Calibri"/>
              </a:rPr>
              <a:t>Sidebar Quick Facts</a:t>
            </a: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34155"/>
                </a:solidFill>
                <a:effectLst/>
                <a:uFillTx/>
                <a:latin typeface="Calibri"/>
              </a:rPr>
              <a:t>Structured summary card displaying country, location, inscription date, and site characteristics.</a:t>
            </a:r>
            <a:endParaRPr lang="en-US" sz="1400" b="0" u="none" strike="noStrike">
              <a:solidFill>
                <a:srgbClr val="000000"/>
              </a:solidFill>
              <a:effectLst/>
              <a:uFillTx/>
              <a:latin typeface="Arial"/>
            </a:endParaRPr>
          </a:p>
        </p:txBody>
      </p:sp>
      <p:sp>
        <p:nvSpPr>
          <p:cNvPr id="41" name="Text 3"/>
          <p:cNvSpPr/>
          <p:nvPr/>
        </p:nvSpPr>
        <p:spPr>
          <a:xfrm>
            <a:off x="5120640" y="1828800"/>
            <a:ext cx="3473280" cy="3473280"/>
          </a:xfrm>
          <a:prstGeom prst="rect">
            <a:avLst/>
          </a:prstGeom>
          <a:solidFill>
            <a:srgbClr val="0D233A"/>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CBD5E1"/>
                </a:solidFill>
                <a:effectLst/>
                <a:uFillTx/>
                <a:latin typeface="Calibri"/>
              </a:rPr>
              <a:t>Palenque Ruins </a:t>
            </a:r>
            <a:r>
              <a:rPr lang="en-US" sz="1500" b="0" u="none" strike="noStrike">
                <a:solidFill>
                  <a:srgbClr val="CBD5E1"/>
                </a:solidFill>
                <a:effectLst/>
                <a:uFillTx/>
                <a:latin typeface="Calibri"/>
              </a:rPr>
              <a:t>Showcase</a:t>
            </a:r>
            <a:endParaRPr lang="en-US" sz="1500" b="0" u="none" strike="noStrike">
              <a:solidFill>
                <a:srgbClr val="FFFFFF"/>
              </a:solidFill>
              <a:effectLst/>
              <a:uFillTx/>
              <a:latin typeface="Arial"/>
            </a:endParaRPr>
          </a:p>
          <a:p>
            <a:pPr defTabSz="914400">
              <a:lnSpc>
                <a:spcPct val="100000"/>
              </a:lnSpc>
              <a:tabLst>
                <a:tab pos="0" algn="l"/>
              </a:tabLst>
            </a:pPr>
            <a:endParaRPr lang="en-US" sz="1500" b="0" u="none" strike="noStrike">
              <a:solidFill>
                <a:srgbClr val="FFFFFF"/>
              </a:solidFill>
              <a:effectLst/>
              <a:uFillTx/>
              <a:latin typeface="Arial"/>
            </a:endParaRPr>
          </a:p>
          <a:p>
            <a:pPr defTabSz="914400">
              <a:lnSpc>
                <a:spcPct val="100000"/>
              </a:lnSpc>
              <a:tabLst>
                <a:tab pos="0" algn="l"/>
              </a:tabLst>
            </a:pPr>
            <a:r>
              <a:rPr lang="en-US" sz="1500" b="0" u="none" strike="noStrike">
                <a:solidFill>
                  <a:srgbClr val="CBD5E1"/>
                </a:solidFill>
                <a:effectLst/>
                <a:uFillTx/>
                <a:latin typeface="Calibri"/>
              </a:rPr>
              <a:t>High-contrast visual </a:t>
            </a:r>
            <a:r>
              <a:rPr lang="en-US" sz="1500" b="0" u="none" strike="noStrike">
                <a:solidFill>
                  <a:srgbClr val="CBD5E1"/>
                </a:solidFill>
                <a:effectLst/>
                <a:uFillTx/>
                <a:latin typeface="Calibri"/>
              </a:rPr>
              <a:t>design, structured </a:t>
            </a:r>
            <a:r>
              <a:rPr lang="en-US" sz="1500" b="0" u="none" strike="noStrike">
                <a:solidFill>
                  <a:srgbClr val="CBD5E1"/>
                </a:solidFill>
                <a:effectLst/>
                <a:uFillTx/>
                <a:latin typeface="Calibri"/>
              </a:rPr>
              <a:t>content hierarchy, </a:t>
            </a:r>
            <a:r>
              <a:rPr lang="en-US" sz="1500" b="0" u="none" strike="noStrike">
                <a:solidFill>
                  <a:srgbClr val="CBD5E1"/>
                </a:solidFill>
                <a:effectLst/>
                <a:uFillTx/>
                <a:latin typeface="Calibri"/>
              </a:rPr>
              <a:t>and responsive </a:t>
            </a:r>
            <a:r>
              <a:rPr lang="en-US" sz="1500" b="0" u="none" strike="noStrike">
                <a:solidFill>
                  <a:srgbClr val="CBD5E1"/>
                </a:solidFill>
                <a:effectLst/>
                <a:uFillTx/>
                <a:latin typeface="Calibri"/>
              </a:rPr>
              <a:t>Flexbox grid </a:t>
            </a:r>
            <a:r>
              <a:rPr lang="en-US" sz="1500" b="0" u="none" strike="noStrike">
                <a:solidFill>
                  <a:srgbClr val="CBD5E1"/>
                </a:solidFill>
                <a:effectLst/>
                <a:uFillTx/>
                <a:latin typeface="Calibri"/>
              </a:rPr>
              <a:t>containers.</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Text 0"/>
          <p:cNvSpPr/>
          <p:nvPr/>
        </p:nvSpPr>
        <p:spPr>
          <a:xfrm>
            <a:off x="731520" y="54864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1100" b="1" u="none" strike="noStrike">
                <a:solidFill>
                  <a:srgbClr val="2563EB"/>
                </a:solidFill>
                <a:effectLst/>
                <a:uFillTx/>
                <a:latin typeface="Calibri"/>
              </a:rPr>
              <a:t>TECHNICAL ASSESSMENT</a:t>
            </a:r>
            <a:endParaRPr lang="en-US" sz="1100" b="0" u="none" strike="noStrike">
              <a:solidFill>
                <a:srgbClr val="000000"/>
              </a:solidFill>
              <a:effectLst/>
              <a:uFillTx/>
              <a:latin typeface="Arial"/>
            </a:endParaRPr>
          </a:p>
        </p:txBody>
      </p:sp>
      <p:sp>
        <p:nvSpPr>
          <p:cNvPr id="43" name="Text 1"/>
          <p:cNvSpPr/>
          <p:nvPr/>
        </p:nvSpPr>
        <p:spPr>
          <a:xfrm>
            <a:off x="731520" y="914400"/>
            <a:ext cx="6856560" cy="360"/>
          </a:xfrm>
          <a:prstGeom prst="rect">
            <a:avLst/>
          </a:prstGeom>
          <a:noFill/>
          <a:ln w="0">
            <a:noFill/>
          </a:ln>
        </p:spPr>
        <p:style>
          <a:lnRef idx="0"/>
          <a:fillRef idx="0"/>
          <a:effectRef idx="0"/>
          <a:fontRef idx="minor"/>
        </p:style>
        <p:txBody>
          <a:bodyPr lIns="90000" tIns="-44280" rIns="90000" bIns="-44280" anchor="ctr">
            <a:noAutofit/>
          </a:bodyPr>
          <a:p>
            <a:pPr defTabSz="914400">
              <a:lnSpc>
                <a:spcPct val="100000"/>
              </a:lnSpc>
              <a:tabLst>
                <a:tab pos="0" algn="l"/>
              </a:tabLst>
            </a:pPr>
            <a:r>
              <a:rPr lang="en-US" sz="2400" b="1" u="none" strike="noStrike">
                <a:solidFill>
                  <a:srgbClr val="0F172A"/>
                </a:solidFill>
                <a:effectLst/>
                <a:uFillTx/>
                <a:latin typeface="Calibri"/>
              </a:rPr>
              <a:t>Strengths &amp; Potential Enhancements</a:t>
            </a:r>
            <a:endParaRPr lang="en-US" sz="2400" b="0" u="none" strike="noStrike">
              <a:solidFill>
                <a:srgbClr val="000000"/>
              </a:solidFill>
              <a:effectLst/>
              <a:uFillTx/>
              <a:latin typeface="Arial"/>
            </a:endParaRPr>
          </a:p>
        </p:txBody>
      </p:sp>
      <p:sp>
        <p:nvSpPr>
          <p:cNvPr id="44" name="Text 2"/>
          <p:cNvSpPr/>
          <p:nvPr/>
        </p:nvSpPr>
        <p:spPr>
          <a:xfrm>
            <a:off x="731520" y="1828800"/>
            <a:ext cx="3839040" cy="347328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334155"/>
                </a:solidFill>
                <a:effectLst/>
                <a:uFillTx/>
                <a:latin typeface="Calibri"/>
              </a:rPr>
              <a:t>Current Technical Effort</a:t>
            </a:r>
            <a:endParaRPr lang="en-US" sz="1300" b="0" u="none" strike="noStrike">
              <a:solidFill>
                <a:srgbClr val="000000"/>
              </a:solidFill>
              <a:effectLst/>
              <a:uFillTx/>
              <a:latin typeface="Arial"/>
            </a:endParaRPr>
          </a:p>
          <a:p>
            <a:pPr defTabSz="914400">
              <a:lnSpc>
                <a:spcPct val="100000"/>
              </a:lnSpc>
              <a:tabLst>
                <a:tab pos="0" algn="l"/>
              </a:tabLst>
            </a:pP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Clean separation of semantic HTML &amp; CSS</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Zero dependencies or heavy external libraries</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Dynamic JavaScript header &amp; footer injection</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Fully responsive Flexbox grid layout</a:t>
            </a:r>
            <a:endParaRPr lang="en-US" sz="1300" b="0" u="none" strike="noStrike">
              <a:solidFill>
                <a:srgbClr val="000000"/>
              </a:solidFill>
              <a:effectLst/>
              <a:uFillTx/>
              <a:latin typeface="Arial"/>
            </a:endParaRPr>
          </a:p>
        </p:txBody>
      </p:sp>
      <p:sp>
        <p:nvSpPr>
          <p:cNvPr id="45" name="Text 3"/>
          <p:cNvSpPr/>
          <p:nvPr/>
        </p:nvSpPr>
        <p:spPr>
          <a:xfrm>
            <a:off x="4846320" y="1828800"/>
            <a:ext cx="3839040" cy="3473280"/>
          </a:xfrm>
          <a:prstGeom prst="rect">
            <a:avLst/>
          </a:prstGeom>
          <a:solidFill>
            <a:srgbClr val="F8FAFC"/>
          </a:solid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334155"/>
                </a:solidFill>
                <a:effectLst/>
                <a:uFillTx/>
                <a:latin typeface="Calibri"/>
              </a:rPr>
              <a:t>Future Development Roadmap</a:t>
            </a:r>
            <a:endParaRPr lang="en-US" sz="1300" b="0" u="none" strike="noStrike">
              <a:solidFill>
                <a:srgbClr val="000000"/>
              </a:solidFill>
              <a:effectLst/>
              <a:uFillTx/>
              <a:latin typeface="Arial"/>
            </a:endParaRPr>
          </a:p>
          <a:p>
            <a:pPr defTabSz="914400">
              <a:lnSpc>
                <a:spcPct val="100000"/>
              </a:lnSpc>
              <a:tabLst>
                <a:tab pos="0" algn="l"/>
              </a:tabLst>
            </a:pP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Dynamic JSON rendering</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Migrate to SPA using React.js </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use of aria attributes in CSS for better accessibility</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34155"/>
                </a:solidFill>
                <a:effectLst/>
                <a:uFillTx/>
                <a:latin typeface="Calibri"/>
              </a:rPr>
              <a:t>• no backend: static, client-side only</a:t>
            </a:r>
            <a:endParaRPr lang="en-US" sz="1300" b="0" u="none" strike="noStrike">
              <a:solidFill>
                <a:srgbClr val="000000"/>
              </a:solidFill>
              <a:effectLst/>
              <a:uFillTx/>
              <a:latin typeface="Arial"/>
            </a:endParaRPr>
          </a:p>
          <a:p>
            <a:pPr defTabSz="914400">
              <a:lnSpc>
                <a:spcPct val="100000"/>
              </a:lnSpc>
              <a:tabLst>
                <a:tab pos="0" algn="l"/>
              </a:tabLst>
            </a:pP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46" name="Text 0"/>
          <p:cNvSpPr/>
          <p:nvPr/>
        </p:nvSpPr>
        <p:spPr>
          <a:xfrm>
            <a:off x="731520" y="1645920"/>
            <a:ext cx="6856560" cy="360"/>
          </a:xfrm>
          <a:prstGeom prst="rect">
            <a:avLst/>
          </a:prstGeom>
          <a:noFill/>
          <a:ln w="0">
            <a:noFill/>
          </a:ln>
        </p:spPr>
        <p:style>
          <a:lnRef idx="0"/>
          <a:fillRef idx="0"/>
          <a:effectRef idx="0"/>
          <a:fontRef idx="minor"/>
        </p:style>
        <p:txBody>
          <a:bodyPr lIns="90000" tIns="-44280" rIns="90000" bIns="-44280" anchor="ctr">
            <a:noAutofit/>
          </a:bodyPr>
          <a:p>
            <a:pPr algn="ctr" defTabSz="914400">
              <a:lnSpc>
                <a:spcPct val="100000"/>
              </a:lnSpc>
              <a:tabLst>
                <a:tab pos="0" algn="l"/>
              </a:tabLst>
            </a:pPr>
            <a:r>
              <a:rPr lang="en-US" sz="1300" b="1" u="none" strike="noStrike">
                <a:solidFill>
                  <a:srgbClr val="38BDF8"/>
                </a:solidFill>
                <a:effectLst/>
                <a:uFillTx/>
                <a:latin typeface="Calibri"/>
              </a:rPr>
              <a:t>PRESENTATION SUMMARY</a:t>
            </a:r>
            <a:endParaRPr lang="en-US" sz="1300" b="0" u="none" strike="noStrike">
              <a:solidFill>
                <a:srgbClr val="FFFFFF"/>
              </a:solidFill>
              <a:effectLst/>
              <a:uFillTx/>
              <a:latin typeface="Arial"/>
            </a:endParaRPr>
          </a:p>
        </p:txBody>
      </p:sp>
      <p:sp>
        <p:nvSpPr>
          <p:cNvPr id="47" name="Text 1"/>
          <p:cNvSpPr/>
          <p:nvPr/>
        </p:nvSpPr>
        <p:spPr>
          <a:xfrm>
            <a:off x="731520" y="2286000"/>
            <a:ext cx="6856560" cy="360"/>
          </a:xfrm>
          <a:prstGeom prst="rect">
            <a:avLst/>
          </a:prstGeom>
          <a:noFill/>
          <a:ln w="0">
            <a:noFill/>
          </a:ln>
        </p:spPr>
        <p:style>
          <a:lnRef idx="0"/>
          <a:fillRef idx="0"/>
          <a:effectRef idx="0"/>
          <a:fontRef idx="minor"/>
        </p:style>
        <p:txBody>
          <a:bodyPr lIns="90000" tIns="-44280" rIns="90000" bIns="-44280" anchor="ctr">
            <a:noAutofit/>
          </a:bodyPr>
          <a:p>
            <a:pPr algn="ctr" defTabSz="914400">
              <a:lnSpc>
                <a:spcPct val="100000"/>
              </a:lnSpc>
              <a:tabLst>
                <a:tab pos="0" algn="l"/>
              </a:tabLst>
            </a:pPr>
            <a:r>
              <a:rPr lang="en-US" sz="3600" b="1" u="none" strike="noStrike">
                <a:solidFill>
                  <a:srgbClr val="FFFFFF"/>
                </a:solidFill>
                <a:effectLst/>
                <a:uFillTx/>
                <a:latin typeface="Calibri"/>
              </a:rPr>
              <a:t>Thank You! </a:t>
            </a:r>
            <a:r>
              <a:rPr lang="zh-CN" sz="3600" b="1" u="none" strike="noStrike">
                <a:solidFill>
                  <a:srgbClr val="FFFFFF"/>
                </a:solidFill>
                <a:effectLst/>
                <a:uFillTx/>
                <a:latin typeface="Calibri"/>
              </a:rPr>
              <a:t>衛龍 </a:t>
            </a:r>
            <a:r>
              <a:rPr lang="en-US" sz="3600" b="1" u="none" strike="noStrike">
                <a:solidFill>
                  <a:srgbClr val="FFFFFF"/>
                </a:solidFill>
                <a:effectLst/>
                <a:uFillTx/>
                <a:latin typeface="Calibri"/>
              </a:rPr>
              <a:t>sir</a:t>
            </a:r>
            <a:endParaRPr lang="en-US" sz="3600" b="0" u="none" strike="noStrike">
              <a:solidFill>
                <a:srgbClr val="FFFFFF"/>
              </a:solidFill>
              <a:effectLst/>
              <a:uFillTx/>
              <a:latin typeface="Arial"/>
            </a:endParaRPr>
          </a:p>
        </p:txBody>
      </p:sp>
      <p:sp>
        <p:nvSpPr>
          <p:cNvPr id="48" name="Text 2"/>
          <p:cNvSpPr/>
          <p:nvPr/>
        </p:nvSpPr>
        <p:spPr>
          <a:xfrm>
            <a:off x="1371600" y="3474720"/>
            <a:ext cx="6216480" cy="360"/>
          </a:xfrm>
          <a:prstGeom prst="rect">
            <a:avLst/>
          </a:prstGeom>
          <a:noFill/>
          <a:ln w="0">
            <a:noFill/>
          </a:ln>
        </p:spPr>
        <p:style>
          <a:lnRef idx="0"/>
          <a:fillRef idx="0"/>
          <a:effectRef idx="0"/>
          <a:fontRef idx="minor"/>
        </p:style>
        <p:txBody>
          <a:bodyPr lIns="90000" tIns="-44280" rIns="90000" bIns="-44280" anchor="ctr">
            <a:noAutofit/>
          </a:bodyPr>
          <a:p>
            <a:pPr algn="ctr" defTabSz="914400">
              <a:lnSpc>
                <a:spcPct val="100000"/>
              </a:lnSpc>
              <a:tabLst>
                <a:tab pos="0" algn="l"/>
              </a:tabLst>
            </a:pPr>
            <a:r>
              <a:rPr lang="en-US" sz="1600" b="0" u="none" strike="noStrike">
                <a:solidFill>
                  <a:srgbClr val="94A3B8"/>
                </a:solidFill>
                <a:effectLst/>
                <a:uFillTx/>
                <a:latin typeface="Calibri"/>
              </a:rPr>
              <a:t>P Explorer demonstrates strong technical proficiency in HTML5, CSS3 layout, clean </a:t>
            </a:r>
            <a:r>
              <a:rPr lang="en-US" sz="1600" b="0" u="none" strike="noStrike">
                <a:solidFill>
                  <a:srgbClr val="94A3B8"/>
                </a:solidFill>
                <a:effectLst/>
                <a:uFillTx/>
                <a:latin typeface="Calibri"/>
              </a:rPr>
              <a:t>DOM manipulation, and responsive web standards.</a:t>
            </a:r>
            <a:endParaRPr lang="en-US" sz="1600" b="0" u="none" strike="noStrike">
              <a:solidFill>
                <a:srgbClr val="FFFFFF"/>
              </a:solidFill>
              <a:effectLst/>
              <a:uFillTx/>
              <a:latin typeface="Arial"/>
            </a:endParaRPr>
          </a:p>
        </p:txBody>
      </p:sp>
      <p:sp>
        <p:nvSpPr>
          <p:cNvPr id="49" name="Text 3"/>
          <p:cNvSpPr/>
          <p:nvPr/>
        </p:nvSpPr>
        <p:spPr>
          <a:xfrm>
            <a:off x="1828800" y="4754880"/>
            <a:ext cx="5302080" cy="360"/>
          </a:xfrm>
          <a:prstGeom prst="rect">
            <a:avLst/>
          </a:prstGeom>
          <a:solidFill>
            <a:srgbClr val="1E293B"/>
          </a:solidFill>
          <a:ln w="0">
            <a:noFill/>
          </a:ln>
        </p:spPr>
        <p:style>
          <a:lnRef idx="0"/>
          <a:fillRef idx="0"/>
          <a:effectRef idx="0"/>
          <a:fontRef idx="minor"/>
        </p:style>
        <p:txBody>
          <a:bodyPr lIns="90000" tIns="-44280" rIns="90000" bIns="-44280" anchor="ctr">
            <a:noAutofit/>
          </a:bodyPr>
          <a:p>
            <a:pPr algn="ctr" defTabSz="914400">
              <a:lnSpc>
                <a:spcPct val="100000"/>
              </a:lnSpc>
              <a:tabLst>
                <a:tab pos="0" algn="l"/>
              </a:tabLst>
            </a:pPr>
            <a:r>
              <a:rPr lang="en-US" sz="1400" b="0" u="none" strike="noStrike">
                <a:solidFill>
                  <a:srgbClr val="E2E8F0"/>
                </a:solidFill>
                <a:effectLst/>
                <a:uFillTx/>
                <a:latin typeface="Calibri"/>
              </a:rPr>
              <a:t>Project: P Explorer  |  Course: Web Frontend </a:t>
            </a:r>
            <a:r>
              <a:rPr lang="en-US" sz="1400" b="0" u="none" strike="noStrike">
                <a:solidFill>
                  <a:srgbClr val="E2E8F0"/>
                </a:solidFill>
                <a:effectLst/>
                <a:uFillTx/>
                <a:latin typeface="Calibri"/>
              </a:rPr>
              <a:t>Development</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46</TotalTime>
  <Application>LibreOffice/26.2.6.3$Linux_X86_64 LibreOffice_project/620$Build-3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2026-10-11T15:24:19Z</dcterms:created>
  <dc:creator>PptxGenJS</dc:creator>
  <dc:description/>
  <dc:language>en-US</dc:language>
  <cp:lastModifiedBy/>
  <dcterms:modified xsi:type="dcterms:W3CDTF">2026-10-17T19:44:55Z</dcterms:modified>
  <cp:revision>6</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